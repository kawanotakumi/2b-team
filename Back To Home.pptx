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sldIdLst>
    <p:sldId id="256" r:id="rId2"/>
    <p:sldId id="257" r:id="rId3"/>
    <p:sldId id="258" r:id="rId4"/>
    <p:sldId id="262" r:id="rId5"/>
    <p:sldId id="261" r:id="rId6"/>
    <p:sldId id="260" r:id="rId7"/>
    <p:sldId id="259"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5E2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p:cViewPr varScale="1">
        <p:scale>
          <a:sx n="106" d="100"/>
          <a:sy n="106" d="100"/>
        </p:scale>
        <p:origin x="67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8D188A-9D62-CD3F-0F18-E42D6C2ACEF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EDB412B2-2979-B3DB-790F-10A57E12D45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1F76EA-4AEB-9D42-3980-B7556F041680}"/>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2B45A238-0651-6AD4-6C49-9BF146CCC6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EE2AE50-2DD2-051B-B810-1D066676B348}"/>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35916511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E136110-2326-2926-455F-7D6B634C7F1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EAF32ED-2F91-DC94-8447-4AA40C842CB4}"/>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B55EB3-0D97-E5DE-3B60-08414D26B9AA}"/>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FFD17B31-3292-8698-36DD-58187FCD39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E3637DD-7543-4E11-3BF9-B6E70DB91306}"/>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36894289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67DEF2-D66C-C450-6CBB-7849056C7A8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D74692C-06CA-8FB7-232A-F552AC62E65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87C1AA88-6391-45D4-1CAE-4AEB8E8D8280}"/>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28BDE9A2-453C-A5FC-7438-43D03E9E35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DA1DC71-F8D6-8B2D-8E15-381EFE93F741}"/>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264591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7EB0B4-90AD-9003-CAEE-52833E43538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36748DE-565B-7B20-1DFA-B26B487CB02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8AF0E1-D13E-569C-96C8-F7F3CA26A34A}"/>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02BB7FD-2F1C-0793-DE09-3F327F1170E2}"/>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6" name="フッター プレースホルダー 5">
            <a:extLst>
              <a:ext uri="{FF2B5EF4-FFF2-40B4-BE49-F238E27FC236}">
                <a16:creationId xmlns:a16="http://schemas.microsoft.com/office/drawing/2014/main" id="{01DB9930-7024-A017-E699-3546426F4BD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F7E48E8-8128-0476-8CF7-4F30A521E907}"/>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904318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E38C4A-E0E9-C9C3-0E23-F1A5223C7AC6}"/>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50F4FC0-64E1-ABA9-3ECA-DFC92BF7AB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0B9F09A-0487-AB1E-BC77-D9DA66E6B5B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2CE38BDE-3039-A214-A57A-A33AB020433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DD3CB04-A877-27CC-0AA8-F6160C99CB32}"/>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5BD8A102-DF48-C167-FDE4-1F523E8B4B3F}"/>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8" name="フッター プレースホルダー 7">
            <a:extLst>
              <a:ext uri="{FF2B5EF4-FFF2-40B4-BE49-F238E27FC236}">
                <a16:creationId xmlns:a16="http://schemas.microsoft.com/office/drawing/2014/main" id="{6E0C6094-0EA3-FF2C-B0A4-808B51BD7854}"/>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842A477-7A52-DAC4-E5DF-01A0AFE5AA4E}"/>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594901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A3EDF7A-5E2B-95B7-65E8-A1FB22E29A9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E94F16F-5EE6-989F-2DF5-B0DAA5799C2E}"/>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4" name="フッター プレースホルダー 3">
            <a:extLst>
              <a:ext uri="{FF2B5EF4-FFF2-40B4-BE49-F238E27FC236}">
                <a16:creationId xmlns:a16="http://schemas.microsoft.com/office/drawing/2014/main" id="{97049DF8-1777-46B7-03F5-FC560F8245B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D6325AE8-A9C9-424E-EC2C-D3ADC330F803}"/>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2545769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6B58AC8-6571-BCD2-C530-B7BC5A677978}"/>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3" name="フッター プレースホルダー 2">
            <a:extLst>
              <a:ext uri="{FF2B5EF4-FFF2-40B4-BE49-F238E27FC236}">
                <a16:creationId xmlns:a16="http://schemas.microsoft.com/office/drawing/2014/main" id="{ED27B173-89F7-9BB6-C500-B6E4B5813F8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B2907B2-8379-4227-423E-AE52E1ACB91F}"/>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2554305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90E588-8AC0-0B0A-8309-72CFE8BB839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99192CA-8780-7D70-052D-F30449D2461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9B9BA82-18CC-9C76-A531-3617502A6D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AD43848-C890-C99F-2EB0-D3E41E810AFE}"/>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6" name="フッター プレースホルダー 5">
            <a:extLst>
              <a:ext uri="{FF2B5EF4-FFF2-40B4-BE49-F238E27FC236}">
                <a16:creationId xmlns:a16="http://schemas.microsoft.com/office/drawing/2014/main" id="{32E6E2CF-26DD-DBE8-9289-A7AD9A690FC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10C1D26-ADCF-CB92-923E-2BBF80175323}"/>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5108325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A172A9-79A3-EDA2-6B8C-3EDF3301EC9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06B0F13-C7DC-BEF6-BDED-635837E7280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C789B0-7740-076E-8525-44ED586F0F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200D32F-E26A-776A-225B-924B79BC479E}"/>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6" name="フッター プレースホルダー 5">
            <a:extLst>
              <a:ext uri="{FF2B5EF4-FFF2-40B4-BE49-F238E27FC236}">
                <a16:creationId xmlns:a16="http://schemas.microsoft.com/office/drawing/2014/main" id="{43B2FFB1-F0EA-BB1C-D25D-819C61872B6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9B087E-B5E1-80AD-E7AA-97AA19523953}"/>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938033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8A865AF-1746-8E79-B260-C0342E5E848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75E8AB3-C33D-3D38-C3D9-65168108F17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FC812B6-A776-0080-E53F-58E8862A17BA}"/>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7D9D8FCB-F420-881B-E8FE-2458311B1F7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A9C607F-D7D9-FA41-BB6B-B215D1EBB016}"/>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16687103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4AD174FA-723C-5EA8-FEC9-3C598AB19128}"/>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B9DFB734-5C18-19E9-427A-DA8B3986090E}"/>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69C9FE7-475A-6ADB-9F49-779F74619250}"/>
              </a:ext>
            </a:extLst>
          </p:cNvPr>
          <p:cNvSpPr>
            <a:spLocks noGrp="1"/>
          </p:cNvSpPr>
          <p:nvPr>
            <p:ph type="dt" sz="half" idx="10"/>
          </p:nvPr>
        </p:nvSpPr>
        <p:spPr/>
        <p:txBody>
          <a:bodyPr/>
          <a:lstStyle/>
          <a:p>
            <a:fld id="{7F99FBB3-76A5-4B60-BF62-179EE3A79E56}"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6D365BA8-D9D9-08BB-6CBD-74AFA957A72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F6FC19-C5B8-04B9-280D-B46BCC960258}"/>
              </a:ext>
            </a:extLst>
          </p:cNvPr>
          <p:cNvSpPr>
            <a:spLocks noGrp="1"/>
          </p:cNvSpPr>
          <p:nvPr>
            <p:ph type="sldNum" sz="quarter" idx="12"/>
          </p:nvPr>
        </p:nvSpPr>
        <p:spPr/>
        <p:txBody>
          <a:body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27516022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164DEEA-092E-F835-A88D-38FCF07D752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C1DA96B-50F1-1C7A-BE17-65C5A25761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68C83DE-D0C6-6EC2-24A9-3DC66527B09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99FBB3-76A5-4B60-BF62-179EE3A79E56}"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DD3ABC8B-E5D4-0DDE-C2AC-18C4A057ED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2E61648-918A-FDF8-8C22-E07052454A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93043B-4410-4280-830F-097E9ABA65BD}" type="slidenum">
              <a:rPr kumimoji="1" lang="ja-JP" altLang="en-US" smtClean="0"/>
              <a:t>‹#›</a:t>
            </a:fld>
            <a:endParaRPr kumimoji="1" lang="ja-JP" altLang="en-US"/>
          </a:p>
        </p:txBody>
      </p:sp>
    </p:spTree>
    <p:extLst>
      <p:ext uri="{BB962C8B-B14F-4D97-AF65-F5344CB8AC3E}">
        <p14:creationId xmlns:p14="http://schemas.microsoft.com/office/powerpoint/2010/main" val="670625368"/>
      </p:ext>
    </p:extLst>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p:cNvPicPr>
            <a:picLocks noChangeAspect="1"/>
          </p:cNvPicPr>
          <p:nvPr/>
        </p:nvPicPr>
        <p:blipFill>
          <a:blip r:embed="rId2"/>
          <a:stretch>
            <a:fillRect/>
          </a:stretch>
        </p:blipFill>
        <p:spPr>
          <a:xfrm>
            <a:off x="-1" y="0"/>
            <a:ext cx="12192001" cy="6858000"/>
          </a:xfrm>
          <a:prstGeom prst="rect">
            <a:avLst/>
          </a:prstGeom>
        </p:spPr>
      </p:pic>
      <p:sp>
        <p:nvSpPr>
          <p:cNvPr id="3" name="サブタイトル 2"/>
          <p:cNvSpPr>
            <a:spLocks noGrp="1"/>
          </p:cNvSpPr>
          <p:nvPr>
            <p:ph type="subTitle" idx="1"/>
          </p:nvPr>
        </p:nvSpPr>
        <p:spPr>
          <a:xfrm>
            <a:off x="215746" y="5501447"/>
            <a:ext cx="2594760" cy="1176220"/>
          </a:xfrm>
          <a:solidFill>
            <a:schemeClr val="bg1"/>
          </a:solidFill>
        </p:spPr>
        <p:txBody>
          <a:bodyPr>
            <a:noAutofit/>
          </a:bodyPr>
          <a:lstStyle/>
          <a:p>
            <a:r>
              <a:rPr kumimoji="1" lang="ja-JP" altLang="en-US" sz="3200" dirty="0">
                <a:solidFill>
                  <a:schemeClr val="tx1">
                    <a:lumMod val="85000"/>
                  </a:schemeClr>
                </a:solidFill>
              </a:rPr>
              <a:t>河野　拓実</a:t>
            </a:r>
            <a:r>
              <a:rPr lang="ja-JP" altLang="en-US" sz="3200" dirty="0">
                <a:solidFill>
                  <a:schemeClr val="tx1">
                    <a:lumMod val="85000"/>
                  </a:schemeClr>
                </a:solidFill>
              </a:rPr>
              <a:t>　</a:t>
            </a:r>
            <a:endParaRPr lang="en-US" altLang="ja-JP" sz="3200" dirty="0">
              <a:solidFill>
                <a:schemeClr val="tx1">
                  <a:lumMod val="85000"/>
                </a:schemeClr>
              </a:solidFill>
            </a:endParaRPr>
          </a:p>
          <a:p>
            <a:r>
              <a:rPr lang="ja-JP" altLang="en-US" sz="3200" dirty="0">
                <a:solidFill>
                  <a:schemeClr val="tx1">
                    <a:lumMod val="85000"/>
                  </a:schemeClr>
                </a:solidFill>
              </a:rPr>
              <a:t>江川　彰馬</a:t>
            </a:r>
            <a:endParaRPr kumimoji="1" lang="ja-JP" altLang="en-US" sz="3200" dirty="0">
              <a:solidFill>
                <a:schemeClr val="tx1">
                  <a:lumMod val="85000"/>
                </a:schemeClr>
              </a:solidFill>
            </a:endParaRPr>
          </a:p>
        </p:txBody>
      </p:sp>
    </p:spTree>
    <p:extLst>
      <p:ext uri="{BB962C8B-B14F-4D97-AF65-F5344CB8AC3E}">
        <p14:creationId xmlns:p14="http://schemas.microsoft.com/office/powerpoint/2010/main" val="15031034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5" y="142504"/>
            <a:ext cx="3218213" cy="769441"/>
          </a:xfrm>
          <a:prstGeom prst="rect">
            <a:avLst/>
          </a:prstGeom>
          <a:noFill/>
          <a:ln>
            <a:solidFill>
              <a:schemeClr val="tx1"/>
            </a:solidFill>
          </a:ln>
        </p:spPr>
        <p:txBody>
          <a:bodyPr wrap="square" rtlCol="0">
            <a:spAutoFit/>
          </a:bodyPr>
          <a:lstStyle/>
          <a:p>
            <a:r>
              <a:rPr kumimoji="1" lang="ja-JP" altLang="en-US" sz="4400" dirty="0"/>
              <a:t>ゲーム概要</a:t>
            </a:r>
          </a:p>
        </p:txBody>
      </p:sp>
      <p:sp>
        <p:nvSpPr>
          <p:cNvPr id="5" name="テキスト ボックス 4"/>
          <p:cNvSpPr txBox="1"/>
          <p:nvPr/>
        </p:nvSpPr>
        <p:spPr>
          <a:xfrm>
            <a:off x="190005" y="1062681"/>
            <a:ext cx="11388276" cy="1384995"/>
          </a:xfrm>
          <a:prstGeom prst="rect">
            <a:avLst/>
          </a:prstGeom>
          <a:noFill/>
        </p:spPr>
        <p:txBody>
          <a:bodyPr wrap="square" rtlCol="0">
            <a:spAutoFit/>
          </a:bodyPr>
          <a:lstStyle/>
          <a:p>
            <a:r>
              <a:rPr kumimoji="1" lang="ja-JP" altLang="en-US" sz="2800" dirty="0"/>
              <a:t>ジャンル　：　</a:t>
            </a:r>
            <a:r>
              <a:rPr lang="ja-JP" altLang="en-US" sz="2800" dirty="0"/>
              <a:t>アクションゲーム</a:t>
            </a:r>
            <a:endParaRPr lang="en-US" altLang="ja-JP" sz="2800" dirty="0"/>
          </a:p>
          <a:p>
            <a:r>
              <a:rPr kumimoji="1" lang="ja-JP" altLang="en-US" sz="2800" dirty="0"/>
              <a:t>使用エンジン　 </a:t>
            </a:r>
            <a:r>
              <a:rPr kumimoji="1" lang="en-US" altLang="ja-JP" sz="2800" dirty="0"/>
              <a:t>:</a:t>
            </a:r>
            <a:r>
              <a:rPr kumimoji="1" lang="ja-JP" altLang="en-US" sz="2800" dirty="0"/>
              <a:t>　</a:t>
            </a:r>
            <a:r>
              <a:rPr lang="en-US" altLang="ja-JP" sz="2800" dirty="0" err="1"/>
              <a:t>UnrealEngine</a:t>
            </a:r>
            <a:r>
              <a:rPr lang="ja-JP" altLang="en-US" sz="2800" dirty="0"/>
              <a:t>５</a:t>
            </a:r>
            <a:endParaRPr kumimoji="1" lang="en-US" altLang="ja-JP" sz="2800" dirty="0"/>
          </a:p>
          <a:p>
            <a:endParaRPr lang="en-US" altLang="ja-JP" sz="2800" dirty="0"/>
          </a:p>
        </p:txBody>
      </p:sp>
      <p:sp>
        <p:nvSpPr>
          <p:cNvPr id="6" name="テキスト ボックス 5"/>
          <p:cNvSpPr txBox="1"/>
          <p:nvPr/>
        </p:nvSpPr>
        <p:spPr>
          <a:xfrm>
            <a:off x="190005" y="2280062"/>
            <a:ext cx="2600696" cy="769441"/>
          </a:xfrm>
          <a:prstGeom prst="rect">
            <a:avLst/>
          </a:prstGeom>
          <a:noFill/>
          <a:ln>
            <a:solidFill>
              <a:schemeClr val="tx1"/>
            </a:solidFill>
          </a:ln>
        </p:spPr>
        <p:txBody>
          <a:bodyPr wrap="square" rtlCol="0">
            <a:spAutoFit/>
          </a:bodyPr>
          <a:lstStyle/>
          <a:p>
            <a:r>
              <a:rPr lang="ja-JP" altLang="en-US" sz="4400" dirty="0"/>
              <a:t>操作方法</a:t>
            </a:r>
            <a:endParaRPr kumimoji="1" lang="ja-JP" altLang="en-US" sz="4400" dirty="0"/>
          </a:p>
        </p:txBody>
      </p:sp>
      <p:grpSp>
        <p:nvGrpSpPr>
          <p:cNvPr id="7" name="グループ化 6"/>
          <p:cNvGrpSpPr/>
          <p:nvPr/>
        </p:nvGrpSpPr>
        <p:grpSpPr>
          <a:xfrm>
            <a:off x="357249" y="3132409"/>
            <a:ext cx="2266207" cy="1065296"/>
            <a:chOff x="134588" y="1229097"/>
            <a:chExt cx="2266207" cy="1065296"/>
          </a:xfrm>
        </p:grpSpPr>
        <p:sp>
          <p:nvSpPr>
            <p:cNvPr id="8" name="正方形/長方形 7"/>
            <p:cNvSpPr/>
            <p:nvPr/>
          </p:nvSpPr>
          <p:spPr>
            <a:xfrm>
              <a:off x="914401" y="1229097"/>
              <a:ext cx="706581"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dirty="0"/>
                <a:t>W</a:t>
              </a:r>
              <a:endParaRPr kumimoji="1" lang="ja-JP" altLang="en-US" dirty="0"/>
            </a:p>
          </p:txBody>
        </p:sp>
        <p:sp>
          <p:nvSpPr>
            <p:cNvPr id="9" name="正方形/長方形 8"/>
            <p:cNvSpPr/>
            <p:nvPr/>
          </p:nvSpPr>
          <p:spPr>
            <a:xfrm>
              <a:off x="914401" y="1795630"/>
              <a:ext cx="706581"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ja-JP" dirty="0"/>
                <a:t>S</a:t>
              </a:r>
              <a:endParaRPr kumimoji="1" lang="ja-JP" altLang="en-US" dirty="0"/>
            </a:p>
          </p:txBody>
        </p:sp>
        <p:sp>
          <p:nvSpPr>
            <p:cNvPr id="10" name="正方形/長方形 9"/>
            <p:cNvSpPr/>
            <p:nvPr/>
          </p:nvSpPr>
          <p:spPr>
            <a:xfrm>
              <a:off x="134588" y="1795629"/>
              <a:ext cx="706581"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ja-JP" dirty="0"/>
                <a:t>A</a:t>
              </a:r>
              <a:endParaRPr kumimoji="1" lang="ja-JP" altLang="en-US" dirty="0"/>
            </a:p>
          </p:txBody>
        </p:sp>
        <p:sp>
          <p:nvSpPr>
            <p:cNvPr id="11" name="正方形/長方形 10"/>
            <p:cNvSpPr/>
            <p:nvPr/>
          </p:nvSpPr>
          <p:spPr>
            <a:xfrm>
              <a:off x="1694214" y="1795629"/>
              <a:ext cx="706581"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ja-JP" dirty="0"/>
                <a:t>D</a:t>
              </a:r>
              <a:endParaRPr kumimoji="1" lang="ja-JP" altLang="en-US" dirty="0"/>
            </a:p>
          </p:txBody>
        </p:sp>
      </p:grpSp>
      <p:sp>
        <p:nvSpPr>
          <p:cNvPr id="12" name="テキスト ボックス 11"/>
          <p:cNvSpPr txBox="1"/>
          <p:nvPr/>
        </p:nvSpPr>
        <p:spPr>
          <a:xfrm>
            <a:off x="2790701" y="3453947"/>
            <a:ext cx="4631377" cy="584775"/>
          </a:xfrm>
          <a:prstGeom prst="rect">
            <a:avLst/>
          </a:prstGeom>
          <a:noFill/>
        </p:spPr>
        <p:txBody>
          <a:bodyPr wrap="square" rtlCol="0">
            <a:spAutoFit/>
          </a:bodyPr>
          <a:lstStyle/>
          <a:p>
            <a:r>
              <a:rPr kumimoji="1" lang="ja-JP" altLang="en-US" sz="3200" dirty="0"/>
              <a:t>・・・　移動</a:t>
            </a:r>
          </a:p>
        </p:txBody>
      </p:sp>
      <p:sp>
        <p:nvSpPr>
          <p:cNvPr id="13" name="正方形/長方形 12"/>
          <p:cNvSpPr/>
          <p:nvPr/>
        </p:nvSpPr>
        <p:spPr>
          <a:xfrm>
            <a:off x="710539" y="4463665"/>
            <a:ext cx="1684315" cy="49876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ja-JP" dirty="0"/>
              <a:t>SPACE</a:t>
            </a:r>
            <a:endParaRPr kumimoji="1" lang="ja-JP" altLang="en-US" dirty="0"/>
          </a:p>
        </p:txBody>
      </p:sp>
      <p:sp>
        <p:nvSpPr>
          <p:cNvPr id="14" name="テキスト ボックス 13"/>
          <p:cNvSpPr txBox="1"/>
          <p:nvPr/>
        </p:nvSpPr>
        <p:spPr>
          <a:xfrm>
            <a:off x="2790700" y="4506734"/>
            <a:ext cx="4631377" cy="584775"/>
          </a:xfrm>
          <a:prstGeom prst="rect">
            <a:avLst/>
          </a:prstGeom>
          <a:noFill/>
        </p:spPr>
        <p:txBody>
          <a:bodyPr wrap="square" rtlCol="0">
            <a:spAutoFit/>
          </a:bodyPr>
          <a:lstStyle/>
          <a:p>
            <a:r>
              <a:rPr kumimoji="1" lang="ja-JP" altLang="en-US" sz="3200" dirty="0"/>
              <a:t>・・・　ジャンプ</a:t>
            </a:r>
          </a:p>
        </p:txBody>
      </p:sp>
      <p:pic>
        <p:nvPicPr>
          <p:cNvPr id="15" name="Picture 2" descr="https://www.bing.com/th/id/OIP.CesL4vwWjegbtFgb74ZG0QHaHa?w=195&amp;h=211&amp;c=8&amp;rs=1&amp;qlt=90&amp;o=6&amp;cb=12&amp;dpr=1.5&amp;pid=3.1&amp;rm=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96535" y="5172844"/>
            <a:ext cx="1112322" cy="1203746"/>
          </a:xfrm>
          <a:prstGeom prst="rect">
            <a:avLst/>
          </a:prstGeom>
          <a:noFill/>
          <a:extLst>
            <a:ext uri="{909E8E84-426E-40DD-AFC4-6F175D3DCCD1}">
              <a14:hiddenFill xmlns:a14="http://schemas.microsoft.com/office/drawing/2010/main">
                <a:solidFill>
                  <a:srgbClr val="FFFFFF"/>
                </a:solidFill>
              </a14:hiddenFill>
            </a:ext>
          </a:extLst>
        </p:spPr>
      </p:pic>
      <p:sp>
        <p:nvSpPr>
          <p:cNvPr id="16" name="テキスト ボックス 15"/>
          <p:cNvSpPr txBox="1"/>
          <p:nvPr/>
        </p:nvSpPr>
        <p:spPr>
          <a:xfrm>
            <a:off x="2790699" y="5559521"/>
            <a:ext cx="4631377" cy="584775"/>
          </a:xfrm>
          <a:prstGeom prst="rect">
            <a:avLst/>
          </a:prstGeom>
          <a:noFill/>
        </p:spPr>
        <p:txBody>
          <a:bodyPr wrap="square" rtlCol="0">
            <a:spAutoFit/>
          </a:bodyPr>
          <a:lstStyle/>
          <a:p>
            <a:r>
              <a:rPr kumimoji="1" lang="ja-JP" altLang="en-US" sz="3200" dirty="0"/>
              <a:t>・・・　攻撃</a:t>
            </a:r>
          </a:p>
        </p:txBody>
      </p:sp>
    </p:spTree>
    <p:extLst>
      <p:ext uri="{BB962C8B-B14F-4D97-AF65-F5344CB8AC3E}">
        <p14:creationId xmlns:p14="http://schemas.microsoft.com/office/powerpoint/2010/main" val="5285973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5" y="142504"/>
            <a:ext cx="3863011" cy="769441"/>
          </a:xfrm>
          <a:prstGeom prst="rect">
            <a:avLst/>
          </a:prstGeom>
          <a:noFill/>
          <a:ln>
            <a:solidFill>
              <a:schemeClr val="tx1"/>
            </a:solidFill>
          </a:ln>
        </p:spPr>
        <p:txBody>
          <a:bodyPr wrap="square" rtlCol="0">
            <a:spAutoFit/>
          </a:bodyPr>
          <a:lstStyle/>
          <a:p>
            <a:r>
              <a:rPr lang="ja-JP" altLang="en-US" sz="4400" dirty="0"/>
              <a:t>ゲームの流れ</a:t>
            </a:r>
            <a:endParaRPr kumimoji="1" lang="ja-JP" altLang="en-US" sz="4400" dirty="0"/>
          </a:p>
        </p:txBody>
      </p:sp>
      <p:sp>
        <p:nvSpPr>
          <p:cNvPr id="5" name="テキスト ボックス 4"/>
          <p:cNvSpPr txBox="1"/>
          <p:nvPr/>
        </p:nvSpPr>
        <p:spPr>
          <a:xfrm>
            <a:off x="190005" y="1125857"/>
            <a:ext cx="11388276" cy="1384995"/>
          </a:xfrm>
          <a:prstGeom prst="rect">
            <a:avLst/>
          </a:prstGeom>
          <a:noFill/>
        </p:spPr>
        <p:txBody>
          <a:bodyPr wrap="square" rtlCol="0">
            <a:spAutoFit/>
          </a:bodyPr>
          <a:lstStyle/>
          <a:p>
            <a:r>
              <a:rPr lang="ja-JP" altLang="en-US" sz="2800" dirty="0"/>
              <a:t>・プレイヤーは危険な敵やギミックを攻略しながら自分の家に帰ることを目標にステージを攻略していく。</a:t>
            </a:r>
            <a:endParaRPr lang="en-US" altLang="ja-JP" sz="2800" dirty="0"/>
          </a:p>
          <a:p>
            <a:r>
              <a:rPr lang="ja-JP" altLang="en-US" sz="2800" dirty="0"/>
              <a:t>・ステージを進むと、敵、ギミックが多くなる。</a:t>
            </a:r>
            <a:endParaRPr lang="en-US" altLang="ja-JP" sz="2800" dirty="0"/>
          </a:p>
        </p:txBody>
      </p:sp>
      <p:sp>
        <p:nvSpPr>
          <p:cNvPr id="6" name="正方形/長方形 5">
            <a:extLst>
              <a:ext uri="{FF2B5EF4-FFF2-40B4-BE49-F238E27FC236}">
                <a16:creationId xmlns:a16="http://schemas.microsoft.com/office/drawing/2014/main" id="{743242ED-43A3-013F-6AD7-88897A63EC75}"/>
              </a:ext>
            </a:extLst>
          </p:cNvPr>
          <p:cNvSpPr/>
          <p:nvPr/>
        </p:nvSpPr>
        <p:spPr>
          <a:xfrm>
            <a:off x="998628" y="3429000"/>
            <a:ext cx="2812466" cy="214531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t>森</a:t>
            </a:r>
          </a:p>
        </p:txBody>
      </p:sp>
      <p:sp>
        <p:nvSpPr>
          <p:cNvPr id="7" name="正方形/長方形 6">
            <a:extLst>
              <a:ext uri="{FF2B5EF4-FFF2-40B4-BE49-F238E27FC236}">
                <a16:creationId xmlns:a16="http://schemas.microsoft.com/office/drawing/2014/main" id="{8F2303BE-D1CF-7529-0662-18E934E8D6BA}"/>
              </a:ext>
            </a:extLst>
          </p:cNvPr>
          <p:cNvSpPr/>
          <p:nvPr/>
        </p:nvSpPr>
        <p:spPr>
          <a:xfrm>
            <a:off x="4559801" y="3429000"/>
            <a:ext cx="2812466" cy="214531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ja-JP" altLang="en-US" dirty="0"/>
              <a:t>洞窟</a:t>
            </a:r>
            <a:endParaRPr kumimoji="1" lang="ja-JP" altLang="en-US" dirty="0"/>
          </a:p>
        </p:txBody>
      </p:sp>
      <p:sp>
        <p:nvSpPr>
          <p:cNvPr id="8" name="正方形/長方形 7">
            <a:extLst>
              <a:ext uri="{FF2B5EF4-FFF2-40B4-BE49-F238E27FC236}">
                <a16:creationId xmlns:a16="http://schemas.microsoft.com/office/drawing/2014/main" id="{A59E5DFD-7788-66A1-E610-9008CDD2CB5F}"/>
              </a:ext>
            </a:extLst>
          </p:cNvPr>
          <p:cNvSpPr/>
          <p:nvPr/>
        </p:nvSpPr>
        <p:spPr>
          <a:xfrm>
            <a:off x="8120974" y="3429000"/>
            <a:ext cx="2812466" cy="21453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ja-JP" altLang="en-US" dirty="0"/>
              <a:t>山</a:t>
            </a:r>
            <a:endParaRPr kumimoji="1" lang="ja-JP" altLang="en-US" dirty="0"/>
          </a:p>
        </p:txBody>
      </p:sp>
      <p:cxnSp>
        <p:nvCxnSpPr>
          <p:cNvPr id="10" name="直線矢印コネクタ 9">
            <a:extLst>
              <a:ext uri="{FF2B5EF4-FFF2-40B4-BE49-F238E27FC236}">
                <a16:creationId xmlns:a16="http://schemas.microsoft.com/office/drawing/2014/main" id="{08D207B9-07EA-543A-B539-CDAF55A101E1}"/>
              </a:ext>
            </a:extLst>
          </p:cNvPr>
          <p:cNvCxnSpPr>
            <a:cxnSpLocks/>
            <a:stCxn id="6" idx="3"/>
            <a:endCxn id="7" idx="1"/>
          </p:cNvCxnSpPr>
          <p:nvPr/>
        </p:nvCxnSpPr>
        <p:spPr>
          <a:xfrm>
            <a:off x="3811094" y="4501658"/>
            <a:ext cx="748707" cy="0"/>
          </a:xfrm>
          <a:prstGeom prst="straightConnector1">
            <a:avLst/>
          </a:prstGeom>
          <a:ln w="57150">
            <a:tailEnd type="triangle"/>
          </a:ln>
        </p:spPr>
        <p:style>
          <a:lnRef idx="3">
            <a:schemeClr val="accent5"/>
          </a:lnRef>
          <a:fillRef idx="0">
            <a:schemeClr val="accent5"/>
          </a:fillRef>
          <a:effectRef idx="2">
            <a:schemeClr val="accent5"/>
          </a:effectRef>
          <a:fontRef idx="minor">
            <a:schemeClr val="tx1"/>
          </a:fontRef>
        </p:style>
      </p:cxnSp>
      <p:cxnSp>
        <p:nvCxnSpPr>
          <p:cNvPr id="12" name="直線矢印コネクタ 11">
            <a:extLst>
              <a:ext uri="{FF2B5EF4-FFF2-40B4-BE49-F238E27FC236}">
                <a16:creationId xmlns:a16="http://schemas.microsoft.com/office/drawing/2014/main" id="{67D37230-AD6F-BF2D-C047-3C5CC3E352C0}"/>
              </a:ext>
            </a:extLst>
          </p:cNvPr>
          <p:cNvCxnSpPr>
            <a:cxnSpLocks/>
            <a:stCxn id="7" idx="3"/>
            <a:endCxn id="8" idx="1"/>
          </p:cNvCxnSpPr>
          <p:nvPr/>
        </p:nvCxnSpPr>
        <p:spPr>
          <a:xfrm>
            <a:off x="7372267" y="4501658"/>
            <a:ext cx="748707" cy="0"/>
          </a:xfrm>
          <a:prstGeom prst="straightConnector1">
            <a:avLst/>
          </a:prstGeom>
          <a:ln w="57150">
            <a:tailEnd type="triangle"/>
          </a:ln>
        </p:spPr>
        <p:style>
          <a:lnRef idx="3">
            <a:schemeClr val="accent5"/>
          </a:lnRef>
          <a:fillRef idx="0">
            <a:schemeClr val="accent5"/>
          </a:fillRef>
          <a:effectRef idx="2">
            <a:schemeClr val="accent5"/>
          </a:effectRef>
          <a:fontRef idx="minor">
            <a:schemeClr val="tx1"/>
          </a:fontRef>
        </p:style>
      </p:cxnSp>
      <p:sp>
        <p:nvSpPr>
          <p:cNvPr id="20" name="テキスト ボックス 19">
            <a:extLst>
              <a:ext uri="{FF2B5EF4-FFF2-40B4-BE49-F238E27FC236}">
                <a16:creationId xmlns:a16="http://schemas.microsoft.com/office/drawing/2014/main" id="{CE350C40-C96A-115C-E811-A8CD3B90A8B5}"/>
              </a:ext>
            </a:extLst>
          </p:cNvPr>
          <p:cNvSpPr txBox="1"/>
          <p:nvPr/>
        </p:nvSpPr>
        <p:spPr>
          <a:xfrm>
            <a:off x="271486" y="2902751"/>
            <a:ext cx="6124668" cy="461665"/>
          </a:xfrm>
          <a:prstGeom prst="rect">
            <a:avLst/>
          </a:prstGeom>
          <a:noFill/>
        </p:spPr>
        <p:txBody>
          <a:bodyPr wrap="square">
            <a:spAutoFit/>
          </a:bodyPr>
          <a:lstStyle/>
          <a:p>
            <a:r>
              <a:rPr lang="ja-JP" altLang="en-US" sz="2400" dirty="0"/>
              <a:t>・大まかなステージの推移</a:t>
            </a:r>
            <a:endParaRPr lang="en-US" altLang="ja-JP" sz="2400" dirty="0"/>
          </a:p>
        </p:txBody>
      </p:sp>
    </p:spTree>
    <p:extLst>
      <p:ext uri="{BB962C8B-B14F-4D97-AF65-F5344CB8AC3E}">
        <p14:creationId xmlns:p14="http://schemas.microsoft.com/office/powerpoint/2010/main" val="17608107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6" y="142504"/>
            <a:ext cx="2563828" cy="769441"/>
          </a:xfrm>
          <a:prstGeom prst="rect">
            <a:avLst/>
          </a:prstGeom>
          <a:noFill/>
          <a:ln>
            <a:solidFill>
              <a:schemeClr val="tx1"/>
            </a:solidFill>
          </a:ln>
        </p:spPr>
        <p:txBody>
          <a:bodyPr wrap="square" rtlCol="0">
            <a:spAutoFit/>
          </a:bodyPr>
          <a:lstStyle/>
          <a:p>
            <a:r>
              <a:rPr lang="ja-JP" altLang="en-US" sz="4400" dirty="0"/>
              <a:t>画面説明</a:t>
            </a:r>
            <a:endParaRPr kumimoji="1" lang="ja-JP" altLang="en-US" sz="4400" dirty="0"/>
          </a:p>
        </p:txBody>
      </p:sp>
      <p:pic>
        <p:nvPicPr>
          <p:cNvPr id="6" name="図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12530" y="1010829"/>
            <a:ext cx="9796834" cy="5525316"/>
          </a:xfrm>
          <a:prstGeom prst="rect">
            <a:avLst/>
          </a:prstGeom>
        </p:spPr>
      </p:pic>
      <p:sp>
        <p:nvSpPr>
          <p:cNvPr id="8" name="正方形/長方形 7"/>
          <p:cNvSpPr/>
          <p:nvPr/>
        </p:nvSpPr>
        <p:spPr>
          <a:xfrm>
            <a:off x="1212530" y="1054006"/>
            <a:ext cx="4530838" cy="41478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矢印コネクタ 9"/>
          <p:cNvCxnSpPr>
            <a:cxnSpLocks/>
          </p:cNvCxnSpPr>
          <p:nvPr/>
        </p:nvCxnSpPr>
        <p:spPr>
          <a:xfrm flipH="1">
            <a:off x="5743367" y="1260487"/>
            <a:ext cx="705266" cy="0"/>
          </a:xfrm>
          <a:prstGeom prst="straightConnector1">
            <a:avLst/>
          </a:prstGeom>
          <a:ln w="57150">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13" name="テキスト ボックス 12"/>
          <p:cNvSpPr txBox="1"/>
          <p:nvPr/>
        </p:nvSpPr>
        <p:spPr>
          <a:xfrm>
            <a:off x="6448634" y="1054006"/>
            <a:ext cx="2753834" cy="646331"/>
          </a:xfrm>
          <a:prstGeom prst="rect">
            <a:avLst/>
          </a:prstGeom>
          <a:solidFill>
            <a:schemeClr val="bg1"/>
          </a:solidFill>
          <a:ln>
            <a:solidFill>
              <a:schemeClr val="tx1"/>
            </a:solidFill>
          </a:ln>
        </p:spPr>
        <p:txBody>
          <a:bodyPr wrap="square" rtlCol="0">
            <a:spAutoFit/>
          </a:bodyPr>
          <a:lstStyle/>
          <a:p>
            <a:r>
              <a:rPr kumimoji="1" lang="ja-JP" altLang="en-US" dirty="0"/>
              <a:t>・</a:t>
            </a:r>
            <a:r>
              <a:rPr kumimoji="1" lang="en-US" altLang="ja-JP" dirty="0"/>
              <a:t>HP</a:t>
            </a:r>
            <a:r>
              <a:rPr kumimoji="1" lang="ja-JP" altLang="en-US" dirty="0"/>
              <a:t>バー</a:t>
            </a:r>
            <a:endParaRPr kumimoji="1" lang="en-US" altLang="ja-JP" dirty="0"/>
          </a:p>
          <a:p>
            <a:r>
              <a:rPr lang="ja-JP" altLang="en-US" dirty="0"/>
              <a:t>ダメージを受けると減少</a:t>
            </a:r>
            <a:endParaRPr kumimoji="1" lang="ja-JP" altLang="en-US" dirty="0"/>
          </a:p>
        </p:txBody>
      </p:sp>
      <p:sp>
        <p:nvSpPr>
          <p:cNvPr id="16" name="テキスト ボックス 15"/>
          <p:cNvSpPr txBox="1"/>
          <p:nvPr/>
        </p:nvSpPr>
        <p:spPr>
          <a:xfrm>
            <a:off x="1471920" y="3029498"/>
            <a:ext cx="2753834" cy="646331"/>
          </a:xfrm>
          <a:prstGeom prst="rect">
            <a:avLst/>
          </a:prstGeom>
          <a:solidFill>
            <a:schemeClr val="bg1"/>
          </a:solidFill>
          <a:ln>
            <a:solidFill>
              <a:schemeClr val="bg1"/>
            </a:solidFill>
          </a:ln>
        </p:spPr>
        <p:txBody>
          <a:bodyPr wrap="square" rtlCol="0">
            <a:spAutoFit/>
          </a:bodyPr>
          <a:lstStyle/>
          <a:p>
            <a:r>
              <a:rPr lang="ja-JP" altLang="en-US" dirty="0"/>
              <a:t>・レベル</a:t>
            </a:r>
            <a:endParaRPr lang="en-US" altLang="ja-JP" dirty="0"/>
          </a:p>
          <a:p>
            <a:r>
              <a:rPr kumimoji="1" lang="ja-JP" altLang="en-US" dirty="0"/>
              <a:t>敵を倒すと上昇していく</a:t>
            </a:r>
            <a:endParaRPr kumimoji="1" lang="en-US" altLang="ja-JP" dirty="0"/>
          </a:p>
        </p:txBody>
      </p:sp>
      <p:cxnSp>
        <p:nvCxnSpPr>
          <p:cNvPr id="17" name="直線矢印コネクタ 16"/>
          <p:cNvCxnSpPr>
            <a:cxnSpLocks/>
          </p:cNvCxnSpPr>
          <p:nvPr/>
        </p:nvCxnSpPr>
        <p:spPr>
          <a:xfrm flipV="1">
            <a:off x="1783533" y="2349374"/>
            <a:ext cx="0" cy="680124"/>
          </a:xfrm>
          <a:prstGeom prst="straightConnector1">
            <a:avLst/>
          </a:prstGeom>
          <a:ln w="38100">
            <a:solidFill>
              <a:srgbClr val="FFC000"/>
            </a:solidFill>
            <a:tailEnd type="triangle"/>
          </a:ln>
        </p:spPr>
        <p:style>
          <a:lnRef idx="3">
            <a:schemeClr val="accent4"/>
          </a:lnRef>
          <a:fillRef idx="0">
            <a:schemeClr val="accent4"/>
          </a:fillRef>
          <a:effectRef idx="2">
            <a:schemeClr val="accent4"/>
          </a:effectRef>
          <a:fontRef idx="minor">
            <a:schemeClr val="tx1"/>
          </a:fontRef>
        </p:style>
      </p:cxnSp>
      <p:sp>
        <p:nvSpPr>
          <p:cNvPr id="19" name="正方形/長方形 18"/>
          <p:cNvSpPr/>
          <p:nvPr/>
        </p:nvSpPr>
        <p:spPr>
          <a:xfrm>
            <a:off x="1212530" y="1511969"/>
            <a:ext cx="987462" cy="805718"/>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082C63D-F8ED-2483-8E18-7E44176A4B42}"/>
              </a:ext>
            </a:extLst>
          </p:cNvPr>
          <p:cNvSpPr/>
          <p:nvPr/>
        </p:nvSpPr>
        <p:spPr>
          <a:xfrm>
            <a:off x="5423026" y="3675829"/>
            <a:ext cx="1412340" cy="2598222"/>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矢印コネクタ 11">
            <a:extLst>
              <a:ext uri="{FF2B5EF4-FFF2-40B4-BE49-F238E27FC236}">
                <a16:creationId xmlns:a16="http://schemas.microsoft.com/office/drawing/2014/main" id="{9A3A523C-EB21-0E12-7F81-929C1BC28529}"/>
              </a:ext>
            </a:extLst>
          </p:cNvPr>
          <p:cNvCxnSpPr>
            <a:cxnSpLocks/>
          </p:cNvCxnSpPr>
          <p:nvPr/>
        </p:nvCxnSpPr>
        <p:spPr>
          <a:xfrm flipH="1">
            <a:off x="6835366" y="4538803"/>
            <a:ext cx="669957" cy="0"/>
          </a:xfrm>
          <a:prstGeom prst="straightConnector1">
            <a:avLst/>
          </a:prstGeom>
          <a:ln w="38100">
            <a:solidFill>
              <a:srgbClr val="FFFF00"/>
            </a:solidFill>
            <a:tailEnd type="triangle"/>
          </a:ln>
        </p:spPr>
        <p:style>
          <a:lnRef idx="3">
            <a:schemeClr val="accent4"/>
          </a:lnRef>
          <a:fillRef idx="0">
            <a:schemeClr val="accent4"/>
          </a:fillRef>
          <a:effectRef idx="2">
            <a:schemeClr val="accent4"/>
          </a:effectRef>
          <a:fontRef idx="minor">
            <a:schemeClr val="tx1"/>
          </a:fontRef>
        </p:style>
      </p:cxnSp>
      <p:sp>
        <p:nvSpPr>
          <p:cNvPr id="15" name="テキスト ボックス 14">
            <a:extLst>
              <a:ext uri="{FF2B5EF4-FFF2-40B4-BE49-F238E27FC236}">
                <a16:creationId xmlns:a16="http://schemas.microsoft.com/office/drawing/2014/main" id="{9A9C9A0C-7E83-5149-383D-D9C4065B2553}"/>
              </a:ext>
            </a:extLst>
          </p:cNvPr>
          <p:cNvSpPr txBox="1"/>
          <p:nvPr/>
        </p:nvSpPr>
        <p:spPr>
          <a:xfrm>
            <a:off x="7505323" y="4354137"/>
            <a:ext cx="1665837" cy="369332"/>
          </a:xfrm>
          <a:prstGeom prst="rect">
            <a:avLst/>
          </a:prstGeom>
          <a:solidFill>
            <a:schemeClr val="bg1"/>
          </a:solidFill>
          <a:ln>
            <a:solidFill>
              <a:schemeClr val="bg1"/>
            </a:solidFill>
          </a:ln>
        </p:spPr>
        <p:txBody>
          <a:bodyPr wrap="square" rtlCol="0">
            <a:spAutoFit/>
          </a:bodyPr>
          <a:lstStyle/>
          <a:p>
            <a:r>
              <a:rPr lang="ja-JP" altLang="en-US" dirty="0"/>
              <a:t>・プレイヤー</a:t>
            </a:r>
            <a:endParaRPr lang="en-US" altLang="ja-JP" dirty="0"/>
          </a:p>
        </p:txBody>
      </p:sp>
    </p:spTree>
    <p:extLst>
      <p:ext uri="{BB962C8B-B14F-4D97-AF65-F5344CB8AC3E}">
        <p14:creationId xmlns:p14="http://schemas.microsoft.com/office/powerpoint/2010/main" val="10286437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6" y="142504"/>
            <a:ext cx="2574460" cy="769441"/>
          </a:xfrm>
          <a:prstGeom prst="rect">
            <a:avLst/>
          </a:prstGeom>
          <a:noFill/>
          <a:ln>
            <a:solidFill>
              <a:schemeClr val="tx1"/>
            </a:solidFill>
          </a:ln>
        </p:spPr>
        <p:txBody>
          <a:bodyPr wrap="square" rtlCol="0">
            <a:spAutoFit/>
          </a:bodyPr>
          <a:lstStyle/>
          <a:p>
            <a:r>
              <a:rPr lang="ja-JP" altLang="en-US" sz="4400" dirty="0"/>
              <a:t>ステージ</a:t>
            </a:r>
            <a:endParaRPr kumimoji="1" lang="ja-JP" altLang="en-US" sz="4400" dirty="0"/>
          </a:p>
        </p:txBody>
      </p:sp>
      <p:pic>
        <p:nvPicPr>
          <p:cNvPr id="9" name="図 8"/>
          <p:cNvPicPr>
            <a:picLocks noChangeAspect="1"/>
          </p:cNvPicPr>
          <p:nvPr/>
        </p:nvPicPr>
        <p:blipFill>
          <a:blip r:embed="rId2"/>
          <a:stretch>
            <a:fillRect/>
          </a:stretch>
        </p:blipFill>
        <p:spPr>
          <a:xfrm>
            <a:off x="190006" y="1035846"/>
            <a:ext cx="3682609" cy="2775986"/>
          </a:xfrm>
          <a:prstGeom prst="rect">
            <a:avLst/>
          </a:prstGeom>
        </p:spPr>
      </p:pic>
      <p:sp>
        <p:nvSpPr>
          <p:cNvPr id="10" name="テキスト ボックス 9"/>
          <p:cNvSpPr txBox="1"/>
          <p:nvPr/>
        </p:nvSpPr>
        <p:spPr>
          <a:xfrm>
            <a:off x="0" y="3811832"/>
            <a:ext cx="3967756" cy="923330"/>
          </a:xfrm>
          <a:prstGeom prst="rect">
            <a:avLst/>
          </a:prstGeom>
          <a:noFill/>
        </p:spPr>
        <p:txBody>
          <a:bodyPr wrap="square" rtlCol="0">
            <a:spAutoFit/>
          </a:bodyPr>
          <a:lstStyle/>
          <a:p>
            <a:pPr algn="ctr"/>
            <a:r>
              <a:rPr kumimoji="1" lang="ja-JP" altLang="en-US" dirty="0"/>
              <a:t>森</a:t>
            </a:r>
            <a:endParaRPr kumimoji="1" lang="en-US" altLang="ja-JP" dirty="0"/>
          </a:p>
          <a:p>
            <a:pPr algn="ctr"/>
            <a:r>
              <a:rPr lang="ja-JP" altLang="en-US" dirty="0"/>
              <a:t>・最初に訪れるステージ</a:t>
            </a:r>
            <a:endParaRPr lang="en-US" altLang="ja-JP" dirty="0"/>
          </a:p>
          <a:p>
            <a:pPr algn="ctr"/>
            <a:r>
              <a:rPr kumimoji="1" lang="ja-JP" altLang="en-US" dirty="0"/>
              <a:t>・敵、ギミックの種類が最も少ない</a:t>
            </a:r>
          </a:p>
        </p:txBody>
      </p:sp>
      <p:pic>
        <p:nvPicPr>
          <p:cNvPr id="11" name="図 10"/>
          <p:cNvPicPr>
            <a:picLocks noChangeAspect="1"/>
          </p:cNvPicPr>
          <p:nvPr/>
        </p:nvPicPr>
        <p:blipFill>
          <a:blip r:embed="rId3"/>
          <a:stretch>
            <a:fillRect/>
          </a:stretch>
        </p:blipFill>
        <p:spPr>
          <a:xfrm>
            <a:off x="4163807" y="2423837"/>
            <a:ext cx="3833067" cy="2775986"/>
          </a:xfrm>
          <a:prstGeom prst="rect">
            <a:avLst/>
          </a:prstGeom>
        </p:spPr>
      </p:pic>
      <p:sp>
        <p:nvSpPr>
          <p:cNvPr id="12" name="テキスト ボックス 11"/>
          <p:cNvSpPr txBox="1"/>
          <p:nvPr/>
        </p:nvSpPr>
        <p:spPr>
          <a:xfrm>
            <a:off x="4163806" y="5199823"/>
            <a:ext cx="3833067" cy="646331"/>
          </a:xfrm>
          <a:prstGeom prst="rect">
            <a:avLst/>
          </a:prstGeom>
          <a:noFill/>
        </p:spPr>
        <p:txBody>
          <a:bodyPr wrap="square" rtlCol="0">
            <a:spAutoFit/>
          </a:bodyPr>
          <a:lstStyle/>
          <a:p>
            <a:pPr algn="ctr"/>
            <a:r>
              <a:rPr lang="ja-JP" altLang="en-US" dirty="0"/>
              <a:t>洞窟</a:t>
            </a:r>
            <a:endParaRPr lang="en-US" altLang="ja-JP" dirty="0"/>
          </a:p>
          <a:p>
            <a:pPr algn="ctr"/>
            <a:r>
              <a:rPr kumimoji="1" lang="ja-JP" altLang="en-US" dirty="0"/>
              <a:t>・ギミックが多く、少し難しい</a:t>
            </a:r>
          </a:p>
        </p:txBody>
      </p:sp>
      <p:pic>
        <p:nvPicPr>
          <p:cNvPr id="13" name="図 12"/>
          <p:cNvPicPr>
            <a:picLocks noChangeAspect="1"/>
          </p:cNvPicPr>
          <p:nvPr/>
        </p:nvPicPr>
        <p:blipFill>
          <a:blip r:embed="rId4"/>
          <a:stretch>
            <a:fillRect/>
          </a:stretch>
        </p:blipFill>
        <p:spPr>
          <a:xfrm>
            <a:off x="8282021" y="1035845"/>
            <a:ext cx="3600689" cy="2775985"/>
          </a:xfrm>
          <a:prstGeom prst="rect">
            <a:avLst/>
          </a:prstGeom>
        </p:spPr>
      </p:pic>
      <p:sp>
        <p:nvSpPr>
          <p:cNvPr id="14" name="テキスト ボックス 13"/>
          <p:cNvSpPr txBox="1"/>
          <p:nvPr/>
        </p:nvSpPr>
        <p:spPr>
          <a:xfrm>
            <a:off x="8282020" y="3811832"/>
            <a:ext cx="3600690" cy="923330"/>
          </a:xfrm>
          <a:prstGeom prst="rect">
            <a:avLst/>
          </a:prstGeom>
          <a:noFill/>
        </p:spPr>
        <p:txBody>
          <a:bodyPr wrap="square" rtlCol="0">
            <a:spAutoFit/>
          </a:bodyPr>
          <a:lstStyle/>
          <a:p>
            <a:pPr algn="ctr"/>
            <a:r>
              <a:rPr lang="ja-JP" altLang="en-US" dirty="0"/>
              <a:t>山</a:t>
            </a:r>
            <a:endParaRPr lang="en-US" altLang="ja-JP" dirty="0"/>
          </a:p>
          <a:p>
            <a:pPr algn="ctr"/>
            <a:r>
              <a:rPr kumimoji="1" lang="ja-JP" altLang="en-US" dirty="0"/>
              <a:t>・敵、ギミックの種類が増加</a:t>
            </a:r>
            <a:endParaRPr kumimoji="1" lang="en-US" altLang="ja-JP" dirty="0"/>
          </a:p>
          <a:p>
            <a:pPr algn="ctr"/>
            <a:r>
              <a:rPr lang="ja-JP" altLang="en-US" dirty="0"/>
              <a:t>・ステージがとても広い</a:t>
            </a:r>
            <a:endParaRPr kumimoji="1" lang="ja-JP" altLang="en-US" dirty="0"/>
          </a:p>
        </p:txBody>
      </p:sp>
    </p:spTree>
    <p:extLst>
      <p:ext uri="{BB962C8B-B14F-4D97-AF65-F5344CB8AC3E}">
        <p14:creationId xmlns:p14="http://schemas.microsoft.com/office/powerpoint/2010/main" val="198838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5" y="142504"/>
            <a:ext cx="6091923" cy="769441"/>
          </a:xfrm>
          <a:prstGeom prst="rect">
            <a:avLst/>
          </a:prstGeom>
          <a:noFill/>
          <a:ln>
            <a:solidFill>
              <a:schemeClr val="tx1"/>
            </a:solidFill>
          </a:ln>
        </p:spPr>
        <p:txBody>
          <a:bodyPr wrap="square" rtlCol="0">
            <a:spAutoFit/>
          </a:bodyPr>
          <a:lstStyle/>
          <a:p>
            <a:r>
              <a:rPr lang="ja-JP" altLang="en-US" sz="4400" dirty="0"/>
              <a:t>出現する一部の敵</a:t>
            </a:r>
            <a:endParaRPr kumimoji="1" lang="ja-JP" altLang="en-US" sz="4400" dirty="0"/>
          </a:p>
        </p:txBody>
      </p:sp>
      <p:sp>
        <p:nvSpPr>
          <p:cNvPr id="6" name="テキスト ボックス 5"/>
          <p:cNvSpPr txBox="1"/>
          <p:nvPr/>
        </p:nvSpPr>
        <p:spPr>
          <a:xfrm>
            <a:off x="190005" y="1062681"/>
            <a:ext cx="5003787" cy="523220"/>
          </a:xfrm>
          <a:prstGeom prst="rect">
            <a:avLst/>
          </a:prstGeom>
          <a:noFill/>
        </p:spPr>
        <p:txBody>
          <a:bodyPr wrap="square" rtlCol="0">
            <a:spAutoFit/>
          </a:bodyPr>
          <a:lstStyle/>
          <a:p>
            <a:r>
              <a:rPr lang="ja-JP" altLang="en-US" sz="2800" dirty="0"/>
              <a:t>スライム　：　一番弱い敵</a:t>
            </a:r>
            <a:endParaRPr lang="en-US" altLang="ja-JP" sz="2800" dirty="0"/>
          </a:p>
        </p:txBody>
      </p:sp>
      <p:pic>
        <p:nvPicPr>
          <p:cNvPr id="2" name="図 1"/>
          <p:cNvPicPr>
            <a:picLocks noChangeAspect="1"/>
          </p:cNvPicPr>
          <p:nvPr/>
        </p:nvPicPr>
        <p:blipFill>
          <a:blip r:embed="rId2"/>
          <a:stretch>
            <a:fillRect/>
          </a:stretch>
        </p:blipFill>
        <p:spPr>
          <a:xfrm>
            <a:off x="326072" y="1585901"/>
            <a:ext cx="1530160" cy="1036045"/>
          </a:xfrm>
          <a:prstGeom prst="rect">
            <a:avLst/>
          </a:prstGeom>
        </p:spPr>
      </p:pic>
      <p:sp>
        <p:nvSpPr>
          <p:cNvPr id="7" name="テキスト ボックス 6"/>
          <p:cNvSpPr txBox="1"/>
          <p:nvPr/>
        </p:nvSpPr>
        <p:spPr>
          <a:xfrm>
            <a:off x="190005" y="2623747"/>
            <a:ext cx="8825979" cy="523220"/>
          </a:xfrm>
          <a:prstGeom prst="rect">
            <a:avLst/>
          </a:prstGeom>
          <a:noFill/>
        </p:spPr>
        <p:txBody>
          <a:bodyPr wrap="square" rtlCol="0">
            <a:spAutoFit/>
          </a:bodyPr>
          <a:lstStyle/>
          <a:p>
            <a:r>
              <a:rPr lang="ja-JP" altLang="en-US" sz="2800" dirty="0"/>
              <a:t>コウモリ　：　プレイヤーの方向にジャンプしてくる</a:t>
            </a:r>
            <a:endParaRPr lang="en-US" altLang="ja-JP" sz="2800" dirty="0"/>
          </a:p>
        </p:txBody>
      </p:sp>
      <p:pic>
        <p:nvPicPr>
          <p:cNvPr id="8" name="図 7"/>
          <p:cNvPicPr>
            <a:picLocks noChangeAspect="1"/>
          </p:cNvPicPr>
          <p:nvPr/>
        </p:nvPicPr>
        <p:blipFill>
          <a:blip r:embed="rId3"/>
          <a:stretch>
            <a:fillRect/>
          </a:stretch>
        </p:blipFill>
        <p:spPr>
          <a:xfrm>
            <a:off x="326072" y="3153361"/>
            <a:ext cx="1599137" cy="1186781"/>
          </a:xfrm>
          <a:prstGeom prst="rect">
            <a:avLst/>
          </a:prstGeom>
        </p:spPr>
      </p:pic>
      <p:sp>
        <p:nvSpPr>
          <p:cNvPr id="9" name="テキスト ボックス 8"/>
          <p:cNvSpPr txBox="1"/>
          <p:nvPr/>
        </p:nvSpPr>
        <p:spPr>
          <a:xfrm>
            <a:off x="326072" y="4387449"/>
            <a:ext cx="8825979" cy="523220"/>
          </a:xfrm>
          <a:prstGeom prst="rect">
            <a:avLst/>
          </a:prstGeom>
          <a:noFill/>
        </p:spPr>
        <p:txBody>
          <a:bodyPr wrap="square" rtlCol="0">
            <a:spAutoFit/>
          </a:bodyPr>
          <a:lstStyle/>
          <a:p>
            <a:r>
              <a:rPr lang="ja-JP" altLang="en-US" sz="2800" dirty="0"/>
              <a:t>オオカミ　：　突進してくる。体力が多い。</a:t>
            </a:r>
            <a:endParaRPr lang="en-US" altLang="ja-JP" sz="2800" dirty="0"/>
          </a:p>
        </p:txBody>
      </p:sp>
      <p:pic>
        <p:nvPicPr>
          <p:cNvPr id="10" name="図 9"/>
          <p:cNvPicPr>
            <a:picLocks noChangeAspect="1"/>
          </p:cNvPicPr>
          <p:nvPr/>
        </p:nvPicPr>
        <p:blipFill>
          <a:blip r:embed="rId4"/>
          <a:stretch>
            <a:fillRect/>
          </a:stretch>
        </p:blipFill>
        <p:spPr>
          <a:xfrm>
            <a:off x="326072" y="4910669"/>
            <a:ext cx="1786192" cy="1702136"/>
          </a:xfrm>
          <a:prstGeom prst="rect">
            <a:avLst/>
          </a:prstGeom>
        </p:spPr>
      </p:pic>
      <p:sp>
        <p:nvSpPr>
          <p:cNvPr id="11" name="テキスト ボックス 10"/>
          <p:cNvSpPr txBox="1"/>
          <p:nvPr/>
        </p:nvSpPr>
        <p:spPr>
          <a:xfrm>
            <a:off x="2691899" y="1585901"/>
            <a:ext cx="2867654" cy="954107"/>
          </a:xfrm>
          <a:prstGeom prst="rect">
            <a:avLst/>
          </a:prstGeom>
          <a:solidFill>
            <a:schemeClr val="bg1"/>
          </a:solidFill>
        </p:spPr>
        <p:txBody>
          <a:bodyPr wrap="square" rtlCol="0">
            <a:spAutoFit/>
          </a:bodyPr>
          <a:lstStyle/>
          <a:p>
            <a:r>
              <a:rPr lang="ja-JP" altLang="en-US" sz="2800" dirty="0"/>
              <a:t>攻撃力</a:t>
            </a:r>
            <a:r>
              <a:rPr lang="en-US" altLang="ja-JP" sz="2800" dirty="0"/>
              <a:t>:</a:t>
            </a:r>
            <a:r>
              <a:rPr lang="ja-JP" altLang="en-US" sz="2800" dirty="0"/>
              <a:t>　</a:t>
            </a:r>
            <a:r>
              <a:rPr lang="en-US" altLang="ja-JP" sz="2800" dirty="0"/>
              <a:t>2</a:t>
            </a:r>
          </a:p>
          <a:p>
            <a:r>
              <a:rPr lang="ja-JP" altLang="en-US" sz="2800" dirty="0"/>
              <a:t>体力   </a:t>
            </a:r>
            <a:r>
              <a:rPr lang="en-US" altLang="ja-JP" sz="2800" dirty="0"/>
              <a:t> : 10</a:t>
            </a:r>
          </a:p>
        </p:txBody>
      </p:sp>
      <p:sp>
        <p:nvSpPr>
          <p:cNvPr id="12" name="テキスト ボックス 11"/>
          <p:cNvSpPr txBox="1"/>
          <p:nvPr/>
        </p:nvSpPr>
        <p:spPr>
          <a:xfrm>
            <a:off x="2691899" y="3194274"/>
            <a:ext cx="2867654" cy="954107"/>
          </a:xfrm>
          <a:prstGeom prst="rect">
            <a:avLst/>
          </a:prstGeom>
          <a:solidFill>
            <a:schemeClr val="bg1"/>
          </a:solidFill>
        </p:spPr>
        <p:txBody>
          <a:bodyPr wrap="square" rtlCol="0">
            <a:spAutoFit/>
          </a:bodyPr>
          <a:lstStyle/>
          <a:p>
            <a:r>
              <a:rPr lang="ja-JP" altLang="en-US" sz="2800" dirty="0"/>
              <a:t>攻撃力</a:t>
            </a:r>
            <a:r>
              <a:rPr lang="en-US" altLang="ja-JP" sz="2800" dirty="0"/>
              <a:t>:</a:t>
            </a:r>
            <a:r>
              <a:rPr lang="ja-JP" altLang="en-US" sz="2800" dirty="0"/>
              <a:t>　</a:t>
            </a:r>
            <a:r>
              <a:rPr lang="en-US" altLang="ja-JP" sz="2800" dirty="0"/>
              <a:t>5</a:t>
            </a:r>
          </a:p>
          <a:p>
            <a:r>
              <a:rPr lang="ja-JP" altLang="en-US" sz="2800" dirty="0"/>
              <a:t>体力   </a:t>
            </a:r>
            <a:r>
              <a:rPr lang="en-US" altLang="ja-JP" sz="2800" dirty="0"/>
              <a:t> : 15</a:t>
            </a:r>
          </a:p>
        </p:txBody>
      </p:sp>
      <p:sp>
        <p:nvSpPr>
          <p:cNvPr id="13" name="テキスト ボックス 12"/>
          <p:cNvSpPr txBox="1"/>
          <p:nvPr/>
        </p:nvSpPr>
        <p:spPr>
          <a:xfrm>
            <a:off x="2691898" y="4911809"/>
            <a:ext cx="2867654" cy="954107"/>
          </a:xfrm>
          <a:prstGeom prst="rect">
            <a:avLst/>
          </a:prstGeom>
          <a:solidFill>
            <a:schemeClr val="bg1"/>
          </a:solidFill>
        </p:spPr>
        <p:txBody>
          <a:bodyPr wrap="square" rtlCol="0">
            <a:spAutoFit/>
          </a:bodyPr>
          <a:lstStyle/>
          <a:p>
            <a:r>
              <a:rPr lang="ja-JP" altLang="en-US" sz="2800" dirty="0"/>
              <a:t>攻撃力</a:t>
            </a:r>
            <a:r>
              <a:rPr lang="en-US" altLang="ja-JP" sz="2800" dirty="0"/>
              <a:t>:</a:t>
            </a:r>
            <a:r>
              <a:rPr lang="ja-JP" altLang="en-US" sz="2800" dirty="0"/>
              <a:t>　</a:t>
            </a:r>
            <a:r>
              <a:rPr lang="en-US" altLang="ja-JP" sz="2800" dirty="0"/>
              <a:t>7</a:t>
            </a:r>
          </a:p>
          <a:p>
            <a:r>
              <a:rPr lang="ja-JP" altLang="en-US" sz="2800" dirty="0"/>
              <a:t>体力   </a:t>
            </a:r>
            <a:r>
              <a:rPr lang="en-US" altLang="ja-JP" sz="2800" dirty="0"/>
              <a:t> : 35</a:t>
            </a:r>
          </a:p>
        </p:txBody>
      </p:sp>
    </p:spTree>
    <p:extLst>
      <p:ext uri="{BB962C8B-B14F-4D97-AF65-F5344CB8AC3E}">
        <p14:creationId xmlns:p14="http://schemas.microsoft.com/office/powerpoint/2010/main" val="35856491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190005" y="142504"/>
            <a:ext cx="3863011" cy="769441"/>
          </a:xfrm>
          <a:prstGeom prst="rect">
            <a:avLst/>
          </a:prstGeom>
          <a:noFill/>
          <a:ln>
            <a:solidFill>
              <a:schemeClr val="tx1"/>
            </a:solidFill>
          </a:ln>
        </p:spPr>
        <p:txBody>
          <a:bodyPr wrap="square" rtlCol="0">
            <a:spAutoFit/>
          </a:bodyPr>
          <a:lstStyle/>
          <a:p>
            <a:r>
              <a:rPr kumimoji="1" lang="ja-JP" altLang="en-US" sz="4400" dirty="0"/>
              <a:t>ギミック例</a:t>
            </a:r>
          </a:p>
        </p:txBody>
      </p:sp>
      <p:pic>
        <p:nvPicPr>
          <p:cNvPr id="2" name="図 1"/>
          <p:cNvPicPr>
            <a:picLocks noChangeAspect="1"/>
          </p:cNvPicPr>
          <p:nvPr/>
        </p:nvPicPr>
        <p:blipFill>
          <a:blip r:embed="rId2"/>
          <a:stretch>
            <a:fillRect/>
          </a:stretch>
        </p:blipFill>
        <p:spPr>
          <a:xfrm>
            <a:off x="1068851" y="1027484"/>
            <a:ext cx="3396983" cy="2337984"/>
          </a:xfrm>
          <a:prstGeom prst="rect">
            <a:avLst/>
          </a:prstGeom>
        </p:spPr>
      </p:pic>
      <p:pic>
        <p:nvPicPr>
          <p:cNvPr id="3" name="図 2"/>
          <p:cNvPicPr>
            <a:picLocks noChangeAspect="1"/>
          </p:cNvPicPr>
          <p:nvPr/>
        </p:nvPicPr>
        <p:blipFill>
          <a:blip r:embed="rId3"/>
          <a:stretch>
            <a:fillRect/>
          </a:stretch>
        </p:blipFill>
        <p:spPr>
          <a:xfrm>
            <a:off x="7282708" y="1027426"/>
            <a:ext cx="3527130" cy="2326853"/>
          </a:xfrm>
          <a:prstGeom prst="rect">
            <a:avLst/>
          </a:prstGeom>
        </p:spPr>
      </p:pic>
      <p:pic>
        <p:nvPicPr>
          <p:cNvPr id="6" name="図 5"/>
          <p:cNvPicPr>
            <a:picLocks noChangeAspect="1"/>
          </p:cNvPicPr>
          <p:nvPr/>
        </p:nvPicPr>
        <p:blipFill>
          <a:blip r:embed="rId4"/>
          <a:stretch>
            <a:fillRect/>
          </a:stretch>
        </p:blipFill>
        <p:spPr>
          <a:xfrm>
            <a:off x="959549" y="4029010"/>
            <a:ext cx="3748252" cy="1920008"/>
          </a:xfrm>
          <a:prstGeom prst="rect">
            <a:avLst/>
          </a:prstGeom>
        </p:spPr>
      </p:pic>
      <p:pic>
        <p:nvPicPr>
          <p:cNvPr id="7" name="図 6"/>
          <p:cNvPicPr>
            <a:picLocks noChangeAspect="1"/>
          </p:cNvPicPr>
          <p:nvPr/>
        </p:nvPicPr>
        <p:blipFill>
          <a:blip r:embed="rId5"/>
          <a:stretch>
            <a:fillRect/>
          </a:stretch>
        </p:blipFill>
        <p:spPr>
          <a:xfrm>
            <a:off x="8026017" y="4024418"/>
            <a:ext cx="2040512" cy="1905838"/>
          </a:xfrm>
          <a:prstGeom prst="rect">
            <a:avLst/>
          </a:prstGeom>
        </p:spPr>
      </p:pic>
      <p:sp>
        <p:nvSpPr>
          <p:cNvPr id="8" name="正方形/長方形 7"/>
          <p:cNvSpPr/>
          <p:nvPr/>
        </p:nvSpPr>
        <p:spPr>
          <a:xfrm>
            <a:off x="407288" y="3360911"/>
            <a:ext cx="6096000" cy="646331"/>
          </a:xfrm>
          <a:prstGeom prst="rect">
            <a:avLst/>
          </a:prstGeom>
        </p:spPr>
        <p:txBody>
          <a:bodyPr>
            <a:spAutoFit/>
          </a:bodyPr>
          <a:lstStyle/>
          <a:p>
            <a:r>
              <a:rPr lang="ja-JP" altLang="en-US" dirty="0"/>
              <a:t>・蔓に覆われた壁</a:t>
            </a:r>
            <a:endParaRPr lang="en-US" altLang="ja-JP" dirty="0"/>
          </a:p>
          <a:p>
            <a:r>
              <a:rPr lang="ja-JP" altLang="en-US" dirty="0"/>
              <a:t>マップ内に落ちている松明を使用して通れる。</a:t>
            </a:r>
            <a:endParaRPr lang="en-US" altLang="ja-JP" dirty="0"/>
          </a:p>
        </p:txBody>
      </p:sp>
      <p:sp>
        <p:nvSpPr>
          <p:cNvPr id="9" name="正方形/長方形 8"/>
          <p:cNvSpPr/>
          <p:nvPr/>
        </p:nvSpPr>
        <p:spPr>
          <a:xfrm>
            <a:off x="6739500" y="3366183"/>
            <a:ext cx="6096000" cy="646331"/>
          </a:xfrm>
          <a:prstGeom prst="rect">
            <a:avLst/>
          </a:prstGeom>
        </p:spPr>
        <p:txBody>
          <a:bodyPr>
            <a:spAutoFit/>
          </a:bodyPr>
          <a:lstStyle/>
          <a:p>
            <a:r>
              <a:rPr lang="ja-JP" altLang="en-US" dirty="0"/>
              <a:t>・湖、溶岩</a:t>
            </a:r>
            <a:endParaRPr lang="en-US" altLang="ja-JP" dirty="0"/>
          </a:p>
          <a:p>
            <a:r>
              <a:rPr lang="ja-JP" altLang="en-US" dirty="0"/>
              <a:t>落ちてしまうとセーブポイントに戻される。</a:t>
            </a:r>
            <a:endParaRPr lang="en-US" altLang="ja-JP" dirty="0"/>
          </a:p>
        </p:txBody>
      </p:sp>
      <p:sp>
        <p:nvSpPr>
          <p:cNvPr id="10" name="正方形/長方形 9"/>
          <p:cNvSpPr/>
          <p:nvPr/>
        </p:nvSpPr>
        <p:spPr>
          <a:xfrm>
            <a:off x="959549" y="5970786"/>
            <a:ext cx="3748252" cy="646331"/>
          </a:xfrm>
          <a:prstGeom prst="rect">
            <a:avLst/>
          </a:prstGeom>
        </p:spPr>
        <p:txBody>
          <a:bodyPr wrap="square">
            <a:spAutoFit/>
          </a:bodyPr>
          <a:lstStyle/>
          <a:p>
            <a:r>
              <a:rPr lang="ja-JP" altLang="en-US" dirty="0"/>
              <a:t>・移動する床</a:t>
            </a:r>
            <a:endParaRPr lang="en-US" altLang="ja-JP" dirty="0"/>
          </a:p>
          <a:p>
            <a:r>
              <a:rPr lang="ja-JP" altLang="en-US" dirty="0"/>
              <a:t>高所に移動したり、崖を移動する</a:t>
            </a:r>
            <a:endParaRPr lang="en-US" altLang="ja-JP" dirty="0"/>
          </a:p>
        </p:txBody>
      </p:sp>
      <p:sp>
        <p:nvSpPr>
          <p:cNvPr id="11" name="正方形/長方形 10"/>
          <p:cNvSpPr/>
          <p:nvPr/>
        </p:nvSpPr>
        <p:spPr>
          <a:xfrm>
            <a:off x="7698345" y="5970786"/>
            <a:ext cx="3030011" cy="646331"/>
          </a:xfrm>
          <a:prstGeom prst="rect">
            <a:avLst/>
          </a:prstGeom>
        </p:spPr>
        <p:txBody>
          <a:bodyPr wrap="square">
            <a:spAutoFit/>
          </a:bodyPr>
          <a:lstStyle/>
          <a:p>
            <a:r>
              <a:rPr lang="ja-JP" altLang="en-US" dirty="0"/>
              <a:t>・破壊できる木箱、水晶</a:t>
            </a:r>
            <a:endParaRPr lang="en-US" altLang="ja-JP" dirty="0"/>
          </a:p>
          <a:p>
            <a:r>
              <a:rPr lang="ja-JP" altLang="en-US" dirty="0"/>
              <a:t>攻撃することで破壊できる</a:t>
            </a:r>
            <a:endParaRPr lang="en-US" altLang="ja-JP" dirty="0"/>
          </a:p>
        </p:txBody>
      </p:sp>
    </p:spTree>
    <p:extLst>
      <p:ext uri="{BB962C8B-B14F-4D97-AF65-F5344CB8AC3E}">
        <p14:creationId xmlns:p14="http://schemas.microsoft.com/office/powerpoint/2010/main" val="73981009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427</TotalTime>
  <Words>244</Words>
  <Application>Microsoft Office PowerPoint</Application>
  <PresentationFormat>ワイド画面</PresentationFormat>
  <Paragraphs>55</Paragraphs>
  <Slides>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帰宅RPG</dc:title>
  <dc:creator>GA2B</dc:creator>
  <cp:lastModifiedBy>拓実 河野</cp:lastModifiedBy>
  <cp:revision>66</cp:revision>
  <dcterms:created xsi:type="dcterms:W3CDTF">2025-10-05T23:52:26Z</dcterms:created>
  <dcterms:modified xsi:type="dcterms:W3CDTF">2025-12-12T15:20:19Z</dcterms:modified>
</cp:coreProperties>
</file>